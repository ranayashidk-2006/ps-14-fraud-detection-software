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tagline: privacy is a design principle,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tension: security vs privacy. The system is the answer to that 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pseudonym is the load-bearing wall: all downstream scoring works on fake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loop top to bottom, then close it: the last step feeds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physical separation: even a full breach of one store exposes almost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killer detail: the scoring models literally cannot see identity or raw amounts.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four models: diversity. What one memorizes, another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are the explainability layer: the customer always gets a reason, never a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bands map to business action: friction is proportional to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is the moat: every customer click is a labeled training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 a blockchain, but private: integrity without broadcasting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answers to “how do you share data safely” and “who can deanonymize”.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the demo for real: seed, click wasn't-me, then show the chain update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the honesty: we publish the OOD numbers alongside the optimistic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this is a compliance-grade prototype, not yet a production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paradox: less data makes the system MORE trustworthy and easier to operate.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200" b="1" i="0">
                <a:solidFill>
                  <a:srgbClr val="E6EDF3"/>
                </a:solidFill>
                <a:latin typeface="Calibri"/>
              </a:defRPr>
            </a:pPr>
            <a:r>
              <a:t>PS-14</a:t>
            </a:r>
          </a:p>
          <a:p>
            <a:pPr>
              <a:spcAft>
                <a:spcPts val="1000"/>
              </a:spcAft>
              <a:defRPr sz="3000" b="1" i="0">
                <a:solidFill>
                  <a:srgbClr val="58A6FF"/>
                </a:solidFill>
                <a:latin typeface="Calibri"/>
              </a:defRPr>
            </a:pPr>
            <a:r>
              <a:t>Privacy-First AI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661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 i="0">
                <a:solidFill>
                  <a:srgbClr val="E6EDF3"/>
                </a:solidFill>
                <a:latin typeface="Calibri"/>
              </a:defRPr>
            </a:pPr>
            <a:r>
              <a:t>Detect fraud without unnecessarily knowing who the person is.</a:t>
            </a:r>
          </a:p>
          <a:p>
            <a:pPr>
              <a:spcAft>
                <a:spcPts val="1000"/>
              </a:spcAft>
              <a:defRPr sz="2000" b="0" i="0">
                <a:solidFill>
                  <a:srgbClr val="E6EDF3"/>
                </a:solidFill>
                <a:latin typeface="Calibri"/>
              </a:defRPr>
            </a:pPr>
            <a:r>
              <a:t>AI recommends — verification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 i="0">
                <a:solidFill>
                  <a:srgbClr val="8B949E"/>
                </a:solidFill>
                <a:latin typeface="Calibri"/>
              </a:defRPr>
            </a:pPr>
            <a:r>
              <a:t>Built against the DPDP Act 2023 · RBI fraud-risk guidelines · GDPR-equivalent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Fraud is expensive. So is over-collecting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Card fraud costs billions every year — and attackers keep innovating.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Traditional systems demand large amounts of personal data to score risk.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That data is a privacy risk AND a compliance headache (DPDP Act, GDPR, RBI guidelines).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The question: can we catch fraudsters without spying on everyone?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Privacy by design, not privacy as a patch.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Data minimization — collect only what is needed to score risk.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Pseudonyms — every person becomes a random ID; nobody knows who is who.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AI recommends, humans verify — the machine flags, the customer confirms.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Privacy by design — a breach leaks almost nothing sensitive.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ONE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The pipeline: event in, decision out, learning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1.  Transaction happens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A payment, login, or transfer arrives from any channel.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2.  Anonymize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The Privacy Layer turns it into features — amount ratio, unusual time, new device.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3.  Score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The Risk Engine fuses four models + rules into a 0–100 risk score.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4.  Decide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Allow / Step-up / Verify by band.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5.  Verify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The customer confirms: “This was me / wasn't me.”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6.  Learn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Confirmation feeds back to retrain the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Five services, five databases — no single point of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 i="1">
                <a:solidFill>
                  <a:srgbClr val="8B949E"/>
                </a:solidFill>
                <a:latin typeface="Calibri"/>
              </a:defRPr>
            </a:pPr>
            <a:r>
              <a:t>Each store is isolated — a breach of one doesn't expose the rest.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defRPr sz="1400" b="1" i="0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defRPr sz="1400" b="1" i="0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defRPr sz="1400" b="1" i="0">
                          <a:solidFill>
                            <a:srgbClr val="58A6FF"/>
                          </a:solidFill>
                          <a:latin typeface="Calibri"/>
                        </a:defRPr>
                      </a:pPr>
                      <a:r>
                        <a:t>Store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Identity Service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Who you are · issues the JWT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DB-1 · PII (encrypted)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Privacy Layer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Anonymize events → features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DB-2 · features only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Risk Engine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Score 0–100 · rules · limits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DB-3 · risk scores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Alerts · “was it you?” · feedback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DB-3 · outcomes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E6EDF3"/>
                          </a:solidFill>
                          <a:latin typeface="Calibri"/>
                        </a:defRPr>
                      </a:pPr>
                      <a:r>
                        <a:t>Audit Service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Tamper-proof record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400" b="0" i="0">
                          <a:solidFill>
                            <a:srgbClr val="8B949E"/>
                          </a:solidFill>
                          <a:latin typeface="Calibri"/>
                        </a:defRPr>
                      </a:pPr>
                      <a:r>
                        <a:t>DB-4 · hash chain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PRIVACY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Turning events into features — and discarding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Raw data never leaves the layer: amounts, exact geo, and device IDs are not stored.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Instead we keep: “amount is 2.3× your usual”, “at 3 AM”, “new device”, “many failed logins”.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Even the Risk Engine never sees who you are — only the pseudonym and its features.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Extra shields: k-anonymity gate on exports, no raw amounts in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Four models, one calibrated probability.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Logistic Regression — classic, explainable baseline.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Random Forest / XGBoost — learn complex fraud patterns from history.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Isolation Forest — catches never-seen anomalies (zero-shot fraud).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A stacker fuses all four into a single calibrated probability.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Output is an honest probability — not a confident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RULES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Human expertise, written down and enforced.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Declarative rules: “amount &gt; 1.3× usual → flag”, “new device + high amount → verify”.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Every flag maps to a category-level reason code the customer can understand.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Velocity limits run first: &gt;10 txns/day or &gt;3× daily spend → step up or block.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Rules + ML are fused into the final 0–100 risk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Three bands, no black boxes.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1.  0–30 → Allow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Low risk. No friction for the customer.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2.  31–70 → Step up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Extra check — e.g., an OTP.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3.  71–100 → Verify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Human or customer confirmation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 i="0">
                <a:solidFill>
                  <a:srgbClr val="E6EDF3"/>
                </a:solidFill>
                <a:latin typeface="Calibri"/>
              </a:defRPr>
            </a:pPr>
            <a:r>
              <a:t>•  Every decision ships with reason codes — explainable by design, not retrofitted.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THE HUMAN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This is the secret sauce.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High-risk alert asks the customer: “This was me / This wasn't me.”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Confirmed = legitimate → the model learns not to flag that pattern again.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Disputed = fraud → becomes labeled training data.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The feedback retrains the model — it gets smarter with every real case.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This is the difference between a static rule list and a learning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The tamper-proof audit trail.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Every important action lands on an append-only hash chain.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Each record carries the fingerprint of the one before it — change one, everything after breaks.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A compliance viewer (separate passphrase) verifies the whole chain anytime.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Regulators can verify a signed export independently — no trust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PRIVACY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The extra shields.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Federated learning — institutions train locally, share only model weights, never data.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Differential privacy — calibrated noise on shared weights with provable guarantees.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k-anonymity gate — exports are blocked if anyone could be uniquely identified.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Break-glass — the only pseudonym→person path, and it is always logged.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Two minutes, no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1.  Register &amp; login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A 15-minute session token, carrying only your pseudonym.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2.  Seed a demo account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One click → 7 events, 1 high-risk alert with reason chips.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3.  Verify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“This wasn't me” → the case lands in history and the audit chain.</a:t>
            </a:r>
          </a:p>
          <a:p>
            <a:pPr>
              <a:spcAft>
                <a:spcPts val="200"/>
              </a:spcAft>
              <a:defRPr sz="1800" b="1" i="0">
                <a:solidFill>
                  <a:srgbClr val="E6EDF3"/>
                </a:solidFill>
                <a:latin typeface="Calibri"/>
              </a:defRPr>
            </a:pPr>
            <a:r>
              <a:t>4.  Compliance view</a:t>
            </a:r>
          </a:p>
          <a:p>
            <a:pPr>
              <a:spcAft>
                <a:spcPts val="1200"/>
              </a:spcAft>
              <a:defRPr sz="1500" b="0" i="0">
                <a:solidFill>
                  <a:srgbClr val="8B949E"/>
                </a:solidFill>
                <a:latin typeface="Calibri"/>
              </a:defRPr>
            </a:pPr>
            <a:r>
              <a:t>      The hash-verified trail, end to 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Honest numbers, enforced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The five live scenarios return exactly the documented decisions: 29 / 14 / 86 / 70 / 27.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Honest generalization — leave-one-archetype-out recall, not inflated splits.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Retrains are gated: held-out fraud recall below a floor fails the build.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Velocity limits cut the false-positive challenge rate while fraud recall holds.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 i="0">
                <a:solidFill>
                  <a:srgbClr val="58A6FF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 i="0">
                <a:solidFill>
                  <a:srgbClr val="E6EDF3"/>
                </a:solidFill>
                <a:latin typeface="Calibri"/>
              </a:defRPr>
            </a:pPr>
            <a:r>
              <a:t>What's real, what's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Synthetic data — the models need a real-world pilot to prove out.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Prototype shared tokens → production uses mTLS, KMS, and per-store credentials.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More fraud archetypes, more institutions in the federated ring.</a:t>
            </a:r>
          </a:p>
          <a:p>
            <a:pPr>
              <a:spcAft>
                <a:spcPts val="1200"/>
              </a:spcAft>
              <a:defRPr sz="1800" b="0" i="0">
                <a:solidFill>
                  <a:srgbClr val="E6EDF3"/>
                </a:solidFill>
                <a:latin typeface="Calibri"/>
              </a:defRPr>
            </a:pPr>
            <a:r>
              <a:t>•  Pilot plan: one institution, shadow-mode scoring, then live.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 i="0">
                <a:solidFill>
                  <a:srgbClr val="E6EDF3"/>
                </a:solidFill>
                <a:latin typeface="Calibri"/>
              </a:defRPr>
            </a:pPr>
            <a:r>
              <a:t>Privacy isn't the enemy of fraud detection —</a:t>
            </a:r>
          </a:p>
          <a:p>
            <a:pPr>
              <a:spcAft>
                <a:spcPts val="1000"/>
              </a:spcAft>
              <a:defRPr sz="3600" b="1" i="0">
                <a:solidFill>
                  <a:srgbClr val="58A6FF"/>
                </a:solidFill>
                <a:latin typeface="Calibri"/>
              </a:defRPr>
            </a:pPr>
            <a:r>
              <a:t>it's the design.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2062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 i="0">
                <a:solidFill>
                  <a:srgbClr val="8B949E"/>
                </a:solidFill>
                <a:latin typeface="Calibri"/>
              </a:defRPr>
            </a:pPr>
            <a:r>
              <a:t>Less data collected → less to leak → more customer trust → cleaner, better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